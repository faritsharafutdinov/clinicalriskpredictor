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ClinicalRiskPredictor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00400" y="1965960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84832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A8D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Mortality Risk Prediction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A8D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Clinical Event Sequences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3017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ChronoFormer · Attention Rollout · Saliency · Fidelity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794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Farit Sharafutdinov     Grigorii Belyaev     Egor Sergeev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1879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B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Motivation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6459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3886200" cy="3703320"/>
          </a:xfrm>
          <a:prstGeom prst="rect">
            <a:avLst/>
          </a:prstGeom>
          <a:solidFill>
            <a:srgbClr val="F0F6FB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9728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536192"/>
            <a:ext cx="34290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accumulate hundreds of clinical events over time — diagnoses, procedures, lab results.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high-risk patients early enables timely intervention and better resource allocation.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models treat EHR sequences as unordered bags of codes, ignoring the temporal structure between events.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92040" y="1005840"/>
            <a:ext cx="3886200" cy="3703320"/>
          </a:xfrm>
          <a:prstGeom prst="rect">
            <a:avLst/>
          </a:prstGeom>
          <a:solidFill>
            <a:srgbClr val="F0F6FB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0" y="109728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XAI?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0640" y="1536192"/>
            <a:ext cx="34290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 medical decisions require model transparency — a number alone is not enough.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need to understand which past events and time gaps drove the prediction.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implement Attention Rollout and Saliency maps, then validate them with a Fidelity metric.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 time-aware transformer for mortality prediction and make its decisions explainable.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Synthea 575k Patients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6459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/sessions/funny-sweet-curie/mnt/ClinicalRiskPredictor/presentation/figures_full/class_bal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4937760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77840" y="1005840"/>
            <a:ext cx="1508760" cy="1508760"/>
          </a:xfrm>
          <a:prstGeom prst="rect">
            <a:avLst/>
          </a:prstGeom>
          <a:solidFill>
            <a:srgbClr val="F0F6FB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77840" y="123444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575,415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623560" y="19202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269480" y="1005840"/>
            <a:ext cx="1508760" cy="1508760"/>
          </a:xfrm>
          <a:prstGeom prst="rect">
            <a:avLst/>
          </a:prstGeom>
          <a:solidFill>
            <a:srgbClr val="F0F6FB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269480" y="123444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13.1%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315200" y="19202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Rate (Deceased)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2697480"/>
            <a:ext cx="1508760" cy="1508760"/>
          </a:xfrm>
          <a:prstGeom prst="rect">
            <a:avLst/>
          </a:prstGeom>
          <a:solidFill>
            <a:srgbClr val="F0F6FB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577840" y="292608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5623560" y="36118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Sequence Length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269480" y="2697480"/>
            <a:ext cx="1508760" cy="1508760"/>
          </a:xfrm>
          <a:prstGeom prst="rect">
            <a:avLst/>
          </a:prstGeom>
          <a:solidFill>
            <a:srgbClr val="F0F6FB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269480" y="292608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155 days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7315200" y="36118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Between Events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65760" y="43251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HuggingFace  richardyoung/synthea-575k-patients  (parquet)  ·  Label: DEATHDATE present →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Distributions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6459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/sessions/funny-sweet-curie/mnt/ClinicalRiskPredictor/presentation/figures_full/sequence_length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960120"/>
            <a:ext cx="4251960" cy="2880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90448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patients have 20–150 condition events.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tail extends to 2000+ events.</a:t>
            </a:r>
            <a:endParaRPr lang="en-US" sz="1050" dirty="0"/>
          </a:p>
        </p:txBody>
      </p:sp>
      <p:pic>
        <p:nvPicPr>
          <p:cNvPr id="6" name="Image 1" descr="/sessions/funny-sweet-curie/mnt/ClinicalRiskPredictor/presentation/figures_full/time_delta_distribu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960120"/>
            <a:ext cx="4069080" cy="2880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46320" y="3904488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gaps are heavily right-skewed (mean 155 days).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 reveals rich temporal structure.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ChronoFormer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6459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194560" cy="411480"/>
          </a:xfrm>
          <a:prstGeom prst="roundRect">
            <a:avLst>
              <a:gd name="adj" fmla="val 15556"/>
            </a:avLst>
          </a:prstGeom>
          <a:solidFill>
            <a:srgbClr val="E8F4FD"/>
          </a:solidFill>
          <a:ln w="19050">
            <a:solidFill>
              <a:srgbClr val="A8D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Codes  +  Time Deltas (days)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194560" cy="411480"/>
          </a:xfrm>
          <a:prstGeom prst="roundRect">
            <a:avLst>
              <a:gd name="adj" fmla="val 15556"/>
            </a:avLst>
          </a:prstGeom>
          <a:solidFill>
            <a:srgbClr val="D4EAF7"/>
          </a:solidFill>
          <a:ln w="19050">
            <a:solidFill>
              <a:srgbClr val="7BBD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916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Embedding  ⊕  Time Embedding (binned)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2194560" cy="411480"/>
          </a:xfrm>
          <a:prstGeom prst="roundRect">
            <a:avLst>
              <a:gd name="adj" fmla="val 15556"/>
            </a:avLst>
          </a:prstGeom>
          <a:solidFill>
            <a:srgbClr val="1B6CA8"/>
          </a:solidFill>
          <a:ln w="1905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31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TimeAwareAttention  (4 heads)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2194560" cy="411480"/>
          </a:xfrm>
          <a:prstGeom prst="roundRect">
            <a:avLst>
              <a:gd name="adj" fmla="val 15556"/>
            </a:avLst>
          </a:prstGeom>
          <a:solidFill>
            <a:srgbClr val="E8F4FD"/>
          </a:solidFill>
          <a:ln w="19050">
            <a:solidFill>
              <a:srgbClr val="A8D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71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2194560" cy="411480"/>
          </a:xfrm>
          <a:prstGeom prst="roundRect">
            <a:avLst>
              <a:gd name="adj" fmla="val 15556"/>
            </a:avLst>
          </a:prstGeom>
          <a:solidFill>
            <a:srgbClr val="0A2342"/>
          </a:solidFill>
          <a:ln w="19050">
            <a:solidFill>
              <a:srgbClr val="0A2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611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Classifier  →  p(mortality)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53896" y="1481328"/>
            <a:ext cx="0" cy="2011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453896" y="2121408"/>
            <a:ext cx="0" cy="2011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453896" y="2761488"/>
            <a:ext cx="0" cy="2011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453896" y="3401568"/>
            <a:ext cx="0" cy="2011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8" name="Text 16"/>
          <p:cNvSpPr/>
          <p:nvPr/>
        </p:nvSpPr>
        <p:spPr>
          <a:xfrm>
            <a:off x="365760" y="40416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classifies from last-token representation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926080" y="1005840"/>
            <a:ext cx="5897880" cy="3291840"/>
          </a:xfrm>
          <a:prstGeom prst="rect">
            <a:avLst/>
          </a:prstGeom>
          <a:solidFill>
            <a:srgbClr val="F0F6FB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154680" y="10972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Equation — Time-Aware Attention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54680" y="1508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score(Q, K)  =  Q·Kᵀ / sqrt(d_k)  +  time_bias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154680" y="196596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time_bias shape: [B x H x 1 x S]  — learned per head, indexed by binned time delta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54680" y="2468880"/>
            <a:ext cx="54864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d_model = 128,  n_heads = 4,  max_time_bins = 1000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padded / truncated to max_len = 128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reads the last-token representation  h[:, -1, :]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AdamW  ·  Loss: Binary Cross-Entropy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(patience = 5) on validation AUROC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split: 80% train / 10% val / 10% test  (random_state = 42)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&amp;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6459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965960" cy="1828800"/>
          </a:xfrm>
          <a:prstGeom prst="rect">
            <a:avLst/>
          </a:prstGeom>
          <a:solidFill>
            <a:srgbClr val="F0F6FB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0.954+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AUROC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340864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epoch ≈ 10–11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1005840"/>
            <a:ext cx="1965960" cy="1828800"/>
          </a:xfrm>
          <a:prstGeom prst="rect">
            <a:avLst/>
          </a:prstGeom>
          <a:solidFill>
            <a:srgbClr val="F0F6FB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143000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14600" y="1965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2340864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standard hardware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1965960" cy="1828800"/>
          </a:xfrm>
          <a:prstGeom prst="rect">
            <a:avLst/>
          </a:prstGeom>
          <a:solidFill>
            <a:srgbClr val="F0F6FB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143000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63440" y="1965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340864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(patience 5)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1005840"/>
            <a:ext cx="1965960" cy="1828800"/>
          </a:xfrm>
          <a:prstGeom prst="rect">
            <a:avLst/>
          </a:prstGeom>
          <a:solidFill>
            <a:srgbClr val="F0F6FB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143000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12280" y="1965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03720" y="2340864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max_len = 128 tokens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8412480" cy="365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17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3017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392424"/>
            <a:ext cx="8412480" cy="301752"/>
          </a:xfrm>
          <a:prstGeom prst="rect">
            <a:avLst/>
          </a:prstGeom>
          <a:solidFill>
            <a:srgbClr val="EEF5FB"/>
          </a:solidFill>
          <a:ln w="6350">
            <a:solidFill>
              <a:srgbClr val="D4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392424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(AdamW)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3392424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10⁻⁵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694176"/>
            <a:ext cx="8412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4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694176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d_model  /  n_heads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3694176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 /  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995928"/>
            <a:ext cx="8412480" cy="301752"/>
          </a:xfrm>
          <a:prstGeom prst="rect">
            <a:avLst/>
          </a:prstGeom>
          <a:solidFill>
            <a:srgbClr val="EEF5FB"/>
          </a:solidFill>
          <a:ln w="6350">
            <a:solidFill>
              <a:srgbClr val="D4E4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995928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max_time_bins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3995928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297680"/>
            <a:ext cx="8412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4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297680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63440" y="4297680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599432"/>
            <a:ext cx="8412480" cy="301752"/>
          </a:xfrm>
          <a:prstGeom prst="rect">
            <a:avLst/>
          </a:prstGeom>
          <a:solidFill>
            <a:srgbClr val="EEF5FB"/>
          </a:solidFill>
          <a:ln w="6350">
            <a:solidFill>
              <a:srgbClr val="D4E4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599432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63440" y="4599432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Explainability: Two Complementary Methods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6459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3886200" cy="3840480"/>
          </a:xfrm>
          <a:prstGeom prst="rect">
            <a:avLst/>
          </a:prstGeom>
          <a:solidFill>
            <a:srgbClr val="F0F6FB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3886200" cy="4572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Rollout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35204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attention weights across all heads, then add the residual identity (A + I) and re-normalize. The last-token row gives importance for each position.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Ā = mean_heads(A)   →   Â = (Ā + I) / row_sum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= Â[-1, :]  (last-token row)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information flow through layers. In a single-layer model, essentially the averaged attention distribution, which can be diffuse.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1005840"/>
            <a:ext cx="3886200" cy="3840480"/>
          </a:xfrm>
          <a:prstGeom prst="rect">
            <a:avLst/>
          </a:prstGeom>
          <a:solidFill>
            <a:srgbClr val="F0F6FB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005840"/>
            <a:ext cx="3886200" cy="4572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0584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Saliency (Input Gradients)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572768"/>
            <a:ext cx="35204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gradients of the output probability with respect to the combined input representation (event_emb + time_emb). Aggregate over embedding dim with L1 norm.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event_emb(x) + time_emb(Δt)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‖∂p / ∂h‖₁  per token,  normalized to [0, 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to architecture depth. More sensitive to local token influence; can highlight sharp, specific events in the sequence.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Importance: Rollout vs. Saliency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6459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/sessions/funny-sweet-curie/mnt/ClinicalRiskPredictor/presentation/figures_full/importance_overlay_sample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960120"/>
            <a:ext cx="8503920" cy="2606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3703320"/>
            <a:ext cx="27432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D4E4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0040" y="3703320"/>
            <a:ext cx="64008" cy="1280160"/>
          </a:xfrm>
          <a:prstGeom prst="rect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" y="3749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Saliency spike at pos. ~47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38912" y="40416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event dominates — its gradient is 10× higher than neighbors. This is the most influential event for this patient's low-risk prediction (p = 0.005).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00400" y="3703320"/>
            <a:ext cx="27432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D4E4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0" y="3703320"/>
            <a:ext cx="64008" cy="1280160"/>
          </a:xfrm>
          <a:prstGeom prst="rect">
            <a:avLst/>
          </a:prstGeom>
          <a:solidFill>
            <a:srgbClr val="4C78A8"/>
          </a:solidFill>
          <a:ln w="12700">
            <a:solidFill>
              <a:srgbClr val="4C78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19272" y="3749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Rollout is nearly flat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319272" y="40416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single-attention-layer model, rollout averages over all heads and can become diffuse — a known limitation of the method.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80760" y="3703320"/>
            <a:ext cx="27432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D4E4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80760" y="3703320"/>
            <a:ext cx="64008" cy="12801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99632" y="3749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Complementary signals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199632" y="40416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Saliency captures sharp, local influences. Rollout gives a smoother global picture. Both are validated by the fidelity metric on the next slide.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Fidelity Evaluation — Are Explanations Faithful?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6459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/sessions/funny-sweet-curie/mnt/ClinicalRiskPredictor/presentation/figures_full/fidelity_cur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960120"/>
            <a:ext cx="5029200" cy="3154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32120" y="960120"/>
            <a:ext cx="3291840" cy="3200400"/>
          </a:xfrm>
          <a:prstGeom prst="rect">
            <a:avLst/>
          </a:prstGeom>
          <a:solidFill>
            <a:srgbClr val="F0F6FB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77840" y="1005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= p(original) − p(masked)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577840" y="1353312"/>
            <a:ext cx="3200400" cy="2926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77840" y="1353312"/>
            <a:ext cx="1069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647688" y="1353312"/>
            <a:ext cx="1069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Δ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17536" y="1353312"/>
            <a:ext cx="1069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Saliency Δ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1664208"/>
            <a:ext cx="3200400" cy="301752"/>
          </a:xfrm>
          <a:prstGeom prst="rect">
            <a:avLst/>
          </a:prstGeom>
          <a:solidFill>
            <a:srgbClr val="EEF5FB"/>
          </a:solidFill>
          <a:ln w="6350">
            <a:solidFill>
              <a:srgbClr val="D4E4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0" y="1664208"/>
            <a:ext cx="10698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47688" y="1664208"/>
            <a:ext cx="10698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+0.019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17536" y="1664208"/>
            <a:ext cx="10698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+0.044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577840" y="1965960"/>
            <a:ext cx="3200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4E4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77840" y="1965960"/>
            <a:ext cx="10698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647688" y="1965960"/>
            <a:ext cx="10698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+0.041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717536" y="1965960"/>
            <a:ext cx="10698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+0.043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577840" y="2267712"/>
            <a:ext cx="3200400" cy="301752"/>
          </a:xfrm>
          <a:prstGeom prst="rect">
            <a:avLst/>
          </a:prstGeom>
          <a:solidFill>
            <a:srgbClr val="EEF5FB"/>
          </a:solidFill>
          <a:ln w="6350">
            <a:solidFill>
              <a:srgbClr val="D4E4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77840" y="2267712"/>
            <a:ext cx="10698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647688" y="2267712"/>
            <a:ext cx="10698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717536" y="2267712"/>
            <a:ext cx="10698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+0.024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577840" y="2569464"/>
            <a:ext cx="3200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4E4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77840" y="2569464"/>
            <a:ext cx="10698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647688" y="2569464"/>
            <a:ext cx="10698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4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−0.010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717536" y="2569464"/>
            <a:ext cx="10698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4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−0.014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577840" y="2871216"/>
            <a:ext cx="3200400" cy="301752"/>
          </a:xfrm>
          <a:prstGeom prst="rect">
            <a:avLst/>
          </a:prstGeom>
          <a:solidFill>
            <a:srgbClr val="EEF5FB"/>
          </a:solidFill>
          <a:ln w="6350">
            <a:solidFill>
              <a:srgbClr val="D4E4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577840" y="2871216"/>
            <a:ext cx="10698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647688" y="2871216"/>
            <a:ext cx="10698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4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−0.043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717536" y="2871216"/>
            <a:ext cx="10698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4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−0.053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577840" y="3172968"/>
            <a:ext cx="3200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4E4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77840" y="3172968"/>
            <a:ext cx="10698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647688" y="3172968"/>
            <a:ext cx="10698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4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−0.088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717536" y="3172968"/>
            <a:ext cx="10698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4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−0.092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20040" y="423367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1–5: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Masking top tokens reduces predicted probability (Δ &gt; 0) → explanations correctly identify the most influential events.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&gt; 10: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Masking many tokens makes the model confused — predicted probability rises (Δ &lt; 0). Both methods show consistent behavior.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 &amp;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6459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84048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structure matters — modeling time gaps between events, not just code order, improves clinical realism.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Saliency is more informative than Rollout for shallow (single-layer) transformers — Rollout tends to diffuse across all tokens.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confirms explanations — both methods consistently identify influential tokens at small k.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prediction quality (AUROC) from explanation quality (fidelity) is essential for rigorous XAI evaluation.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097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46320" y="1508760"/>
            <a:ext cx="384048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real EHR data (MIMIC-IV / eICU in MEDS format) for clinical relevance.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ChronoFormer — proper rollout across all attention layers.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fairness analysis before any clinical deployment.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SHAP / LIME for a broader XAI benchmark.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011680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48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A8D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ClinicalRiskPredictor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B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Farit Sharafutdinov   ·   Grigorii Belyaev   ·   Egor Sergeev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ClinicalRiskPredictor: Explainable Mortality Risk Prediction</dc:title>
  <dc:subject>PptxGenJS Presentation</dc:subject>
  <dc:creator>ClinicalRiskPredictor Team</dc:creator>
  <cp:lastModifiedBy>ClinicalRiskPredictor Team</cp:lastModifiedBy>
  <cp:revision>1</cp:revision>
  <dcterms:created xsi:type="dcterms:W3CDTF">2026-04-22T19:16:43Z</dcterms:created>
  <dcterms:modified xsi:type="dcterms:W3CDTF">2026-04-22T19:16:43Z</dcterms:modified>
</cp:coreProperties>
</file>